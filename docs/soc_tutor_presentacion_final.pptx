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59" y="2990850"/>
            <a:ext cx="4688532" cy="1200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495800"/>
            <a:ext cx="3124200" cy="895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495800"/>
            <a:ext cx="3124200" cy="8953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74904" y="-247650"/>
            <a:ext cx="8394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0"/>
              </a:lnSpc>
              <a:buNone/>
            </a:pPr>
            <a:r>
              <a:rPr lang="en-US" sz="720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🛡️</a:t>
            </a:r>
            <a:endParaRPr lang="en-US" sz="7200" dirty="0"/>
          </a:p>
        </p:txBody>
      </p:sp>
      <p:sp>
        <p:nvSpPr>
          <p:cNvPr id="7" name="Text 1"/>
          <p:cNvSpPr/>
          <p:nvPr/>
        </p:nvSpPr>
        <p:spPr>
          <a:xfrm>
            <a:off x="374904" y="1314450"/>
            <a:ext cx="8394192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80"/>
              </a:lnSpc>
              <a:buNone/>
            </a:pPr>
            <a:r>
              <a:rPr lang="en-US" sz="552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 TUTOR RAG SYSTEM</a:t>
            </a:r>
            <a:endParaRPr lang="en-US" sz="5520" dirty="0"/>
          </a:p>
        </p:txBody>
      </p:sp>
      <p:sp>
        <p:nvSpPr>
          <p:cNvPr id="8" name="Text 2"/>
          <p:cNvSpPr/>
          <p:nvPr/>
        </p:nvSpPr>
        <p:spPr>
          <a:xfrm>
            <a:off x="374904" y="2518321"/>
            <a:ext cx="839419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Simulador Multiagente para Entrenamiento de Analistas</a:t>
            </a:r>
            <a:endParaRPr lang="en-US" sz="1680" dirty="0"/>
          </a:p>
        </p:txBody>
      </p:sp>
      <p:sp>
        <p:nvSpPr>
          <p:cNvPr id="9" name="Text 3"/>
          <p:cNvSpPr/>
          <p:nvPr/>
        </p:nvSpPr>
        <p:spPr>
          <a:xfrm>
            <a:off x="2501386" y="3190875"/>
            <a:ext cx="4141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Bootcamp AI Engineer con Python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2501386" y="3457575"/>
            <a:ext cx="4141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Marcela Rosana Inda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2501386" y="3724275"/>
            <a:ext cx="4141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Abril/Mayo 2026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505522" y="4657725"/>
            <a:ext cx="2856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Duración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1505522" y="4848225"/>
            <a:ext cx="2856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FF4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10-15 mins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82122" y="4657725"/>
            <a:ext cx="2856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810125" y="4848225"/>
            <a:ext cx="2800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Demostrar el valor de negocio y la robustez de la arquitectura de IA.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4000500" cy="13906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771650"/>
            <a:ext cx="4000500" cy="13906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90900"/>
            <a:ext cx="4000500" cy="1657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390900"/>
            <a:ext cx="4000500" cy="16573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9525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2: El Problema (El "Abismo" en la Educación SOC)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695325" y="2009775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Simuladores estáticos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695325" y="2390775"/>
            <a:ext cx="352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proporcionan feedback personalizado.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4924425" y="2009775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Alucinación Técnica (IA)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4924425" y="2390775"/>
            <a:ext cx="352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 LLMs genéricos inventan logs y citan marcos normativos inexistentes.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695325" y="3629025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Complacencia Pedagógica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695325" y="4010025"/>
            <a:ext cx="352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IA convencional suele decir que "todo está bien" para evitar fricciones.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924425" y="3629025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Fragilidad de Infraestructura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4924425" y="4010025"/>
            <a:ext cx="3524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Depender de un único proveedor de IA es un riesgo inaceptable para producción.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8325"/>
            <a:ext cx="8229600" cy="7810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47975"/>
            <a:ext cx="4019550" cy="9334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2847975"/>
            <a:ext cx="4019550" cy="933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1925"/>
            <a:ext cx="4019550" cy="933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0" y="3971925"/>
            <a:ext cx="4019550" cy="93345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238125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3: La Solución (Ingeniería de IA)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695325" y="2076450"/>
            <a:ext cx="79084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 Motor Cognitivo Multi-Agente que: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657225" y="30480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Evalúa decisiones contra documentación real (MITRE, NIST).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4867275" y="304800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Usa herramientas reales (SIEM, EDR) para leer datos deterministas.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657225" y="41719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Adapta el feedback al nivel del jugador (Junior → Experto).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4867275" y="4171950"/>
            <a:ext cx="361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Es indestructible ante caídas de proveedores (Resiliencia Multi-Capa).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02048"/>
            <a:ext cx="8229600" cy="2905125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125" y="2263973"/>
          <a:ext cx="7905750" cy="2581275"/>
        </p:xfrm>
        <a:graphic>
          <a:graphicData uri="http://schemas.openxmlformats.org/drawingml/2006/table">
            <a:tbl>
              <a:tblPr/>
              <a:tblGrid>
                <a:gridCol w="2635250"/>
                <a:gridCol w="2635250"/>
                <a:gridCol w="2635250"/>
              </a:tblGrid>
              <a:tr h="4302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Agente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Función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Patrón de IA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Guard (L1/L2)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Filtra inyecciones maliciosas de prompt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Regex + Clasificador LLM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Analista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Investiga los logs reales (SIEM)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Ciclo ReAct (Thinking/Acting)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Gobernanza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Audita cumplimiento (GDPR, Ética)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Búsqueda RAG de Normativa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Explicador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Traduce técnica a pedagogía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Localización Dinámica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Validador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Juez de calidad (Anti-alucinación)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Juez Asimétrico + Criptografía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457200" y="136327"/>
            <a:ext cx="82296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4: Arquitectura del Sistema (Manager of Drafts)</a:t>
            </a:r>
            <a:endParaRPr lang="en-US" sz="3360" dirty="0"/>
          </a:p>
        </p:txBody>
      </p:sp>
      <p:sp>
        <p:nvSpPr>
          <p:cNvPr id="5" name="Text 1"/>
          <p:cNvSpPr/>
          <p:nvPr/>
        </p:nvSpPr>
        <p:spPr>
          <a:xfrm>
            <a:off x="457200" y="1644848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es un simple LLM. Son 5 agentes especializados con roles asimétricos: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38425"/>
            <a:ext cx="2616101" cy="19621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801" y="2638425"/>
            <a:ext cx="2616250" cy="1962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550" y="2638425"/>
            <a:ext cx="2616101" cy="1962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542925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5: RAG y MCP (El Diferenciador Técnico)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457200" y="2143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Separamos el conocimiento teórico de la realidad del simulador:</a:t>
            </a:r>
            <a:endParaRPr lang="en-US" sz="1350" dirty="0"/>
          </a:p>
        </p:txBody>
      </p:sp>
      <p:sp>
        <p:nvSpPr>
          <p:cNvPr id="7" name="Text 2"/>
          <p:cNvSpPr/>
          <p:nvPr/>
        </p:nvSpPr>
        <p:spPr>
          <a:xfrm>
            <a:off x="657225" y="2838450"/>
            <a:ext cx="2216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Teoría (Cognitive RAG)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57225" y="3486150"/>
            <a:ext cx="221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ChromaDB con MITRE ATT&amp;CK y manuales NIST.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463826" y="2838450"/>
            <a:ext cx="221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Realidad (Protocolo MCP)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3463826" y="3486150"/>
            <a:ext cx="221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agente usa el Model Context Protocol para ejecutar herramientas reales (aislar un host, leer logs).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270575" y="2838450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F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270575" y="3219450"/>
            <a:ext cx="22160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Zero-Hallucination.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El sistema lee evidencia forense real, no la inventa.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78261"/>
            <a:ext cx="2616101" cy="14287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801" y="2278261"/>
            <a:ext cx="2616250" cy="14287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550" y="2278261"/>
            <a:ext cx="2616101" cy="1428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5611"/>
            <a:ext cx="8229600" cy="9334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57200" y="274439"/>
            <a:ext cx="82296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6: Resiliencia Blindada (Cascada de 3 Niveles)</a:t>
            </a:r>
            <a:endParaRPr lang="en-US" sz="3360" dirty="0"/>
          </a:p>
        </p:txBody>
      </p:sp>
      <p:sp>
        <p:nvSpPr>
          <p:cNvPr id="7" name="Text 1"/>
          <p:cNvSpPr/>
          <p:nvPr/>
        </p:nvSpPr>
        <p:spPr>
          <a:xfrm>
            <a:off x="457200" y="1782961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 OpenAI o Google se caen, el entrenamiento continúa.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657225" y="2478286"/>
            <a:ext cx="2260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Nivel Primario</a:t>
            </a:r>
            <a:endParaRPr lang="en-US" sz="1050" dirty="0"/>
          </a:p>
        </p:txBody>
      </p:sp>
      <p:sp>
        <p:nvSpPr>
          <p:cNvPr id="9" name="Text 3"/>
          <p:cNvSpPr/>
          <p:nvPr/>
        </p:nvSpPr>
        <p:spPr>
          <a:xfrm>
            <a:off x="657225" y="2744986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Google Gemini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657225" y="3011686"/>
            <a:ext cx="2260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(Velocidad óptima).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463826" y="2478286"/>
            <a:ext cx="22605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Nivel Respaldo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463826" y="2744986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Groq / Llama-3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3463826" y="3011686"/>
            <a:ext cx="22605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(Latencia extrema).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70575" y="2478286"/>
            <a:ext cx="2260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Validador Supremo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270575" y="2744986"/>
            <a:ext cx="221605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NVIDIA NIM / Llama-3.3-70B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270575" y="3278386"/>
            <a:ext cx="2260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(Alta precisión lógica).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57225" y="4135636"/>
            <a:ext cx="7829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Fail-Safe: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Incluso si todos fallan, se inyecta un </a:t>
            </a:r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Emergency JSON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para no romper la experiencia del jugador.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16161"/>
            <a:ext cx="4000500" cy="5219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716161"/>
            <a:ext cx="4000500" cy="10477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954411"/>
            <a:ext cx="4000500" cy="1047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686300" y="3421261"/>
            <a:ext cx="4000500" cy="190500"/>
          </a:xfrm>
          <a:prstGeom prst="roundRect">
            <a:avLst>
              <a:gd name="adj" fmla="val 47952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FF4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686300" y="3992761"/>
            <a:ext cx="4000500" cy="190500"/>
          </a:xfrm>
          <a:prstGeom prst="roundRect">
            <a:avLst>
              <a:gd name="adj" fmla="val 47952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00FF4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125" y="878086"/>
          <a:ext cx="3676650" cy="4895850"/>
        </p:xfrm>
        <a:graphic>
          <a:graphicData uri="http://schemas.openxmlformats.org/drawingml/2006/table">
            <a:tbl>
              <a:tblPr/>
              <a:tblGrid>
                <a:gridCol w="1225550"/>
                <a:gridCol w="1225550"/>
                <a:gridCol w="1225550"/>
              </a:tblGrid>
              <a:tr h="9791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Métrica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Resultado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FF41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Valor para el Negocio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E0E"/>
                    </a:solidFill>
                  </a:tcPr>
                </a:tc>
              </a:tr>
              <a:tr h="979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Fidelidad (Citas)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99.5%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Garantiza feedback veraz. Citas SHA-256.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979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Costo por Turno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~$0.003 USD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Operación escalable y de bajo costo.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979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Validez Estructural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100%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Sin caídas del Frontend gracias a Pydantic.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  <a:tr h="9791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Ahorro de Tokens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25% - 30%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5FFE9"/>
                          </a:solidFill>
                          <a:latin typeface="ui-sans-serif" pitchFamily="34" charset="0"/>
                          <a:ea typeface="ui-sans-serif" pitchFamily="34" charset="-122"/>
                          <a:cs typeface="ui-sans-serif" pitchFamily="34" charset="-120"/>
                        </a:rPr>
                        <a:t>Logrado razonando internamente en Inglés.</a:t>
                      </a:r>
                      <a:endParaRPr lang="en-US" sz="1200" dirty="0">
                        <a:latin typeface="ui-sans-serif" charset="0"/>
                        <a:ea typeface="ui-sans-serif" charset="0"/>
                        <a:cs typeface="ui-sans-serif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FF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010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/>
          <p:nvPr/>
        </p:nvSpPr>
        <p:spPr>
          <a:xfrm>
            <a:off x="457200" y="-792361"/>
            <a:ext cx="82296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40"/>
              </a:lnSpc>
              <a:buNone/>
            </a:pPr>
            <a:r>
              <a:rPr lang="en-US" sz="336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7: Desempeño y Métricas Financieras</a:t>
            </a:r>
            <a:endParaRPr lang="en-US" sz="3360" dirty="0"/>
          </a:p>
        </p:txBody>
      </p:sp>
      <p:sp>
        <p:nvSpPr>
          <p:cNvPr id="9" name="Text 3"/>
          <p:cNvSpPr/>
          <p:nvPr/>
        </p:nvSpPr>
        <p:spPr>
          <a:xfrm>
            <a:off x="4886325" y="916186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Fidelidad (Citas)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4886325" y="1182886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FF4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99.5%</a:t>
            </a:r>
            <a:endParaRPr lang="en-US" sz="2700" dirty="0"/>
          </a:p>
        </p:txBody>
      </p:sp>
      <p:sp>
        <p:nvSpPr>
          <p:cNvPr id="11" name="Text 5"/>
          <p:cNvSpPr/>
          <p:nvPr/>
        </p:nvSpPr>
        <p:spPr>
          <a:xfrm>
            <a:off x="4886325" y="2154436"/>
            <a:ext cx="36724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Validez Estructural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886325" y="2421136"/>
            <a:ext cx="36724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FF4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</a:t>
            </a:r>
            <a:endParaRPr lang="en-US" sz="2700" dirty="0"/>
          </a:p>
        </p:txBody>
      </p:sp>
      <p:sp>
        <p:nvSpPr>
          <p:cNvPr id="13" name="Text 7"/>
          <p:cNvSpPr/>
          <p:nvPr/>
        </p:nvSpPr>
        <p:spPr>
          <a:xfrm>
            <a:off x="4686300" y="3192661"/>
            <a:ext cx="1069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Costo por Turno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781032" y="3192661"/>
            <a:ext cx="923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~$0.003 USD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4686300" y="3764161"/>
            <a:ext cx="11666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Ahorro de Tokens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961114" y="3764161"/>
            <a:ext cx="74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25% - 30%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52650"/>
            <a:ext cx="4000500" cy="12001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52650"/>
            <a:ext cx="4000500" cy="1200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1400"/>
            <a:ext cx="8229600" cy="10096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55245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8: Demo en Vivo (Workstation)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695325" y="2390775"/>
            <a:ext cx="352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6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Cambio a la pantalla del navegador</a:t>
            </a: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695325" y="2847975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Demostrar: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Interfaz Next.js (Vercel).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4924425" y="2390775"/>
            <a:ext cx="3524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Acción: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Ejecutar "Aislar Host" con un jugador Nivel 1.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95325" y="3819525"/>
            <a:ext cx="7753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Mostrar: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 consola de razonamiento (pensamiento del agente en vivo) y el reporte final validado.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32545"/>
            <a:ext cx="8229600" cy="9334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6495"/>
            <a:ext cx="8229600" cy="666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13745"/>
            <a:ext cx="8229600" cy="6667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74904" y="-203746"/>
            <a:ext cx="839419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 9: Conclusiones</a:t>
            </a:r>
            <a:endParaRPr lang="en-US" sz="3840" dirty="0"/>
          </a:p>
        </p:txBody>
      </p:sp>
      <p:sp>
        <p:nvSpPr>
          <p:cNvPr id="7" name="Text 1"/>
          <p:cNvSpPr/>
          <p:nvPr/>
        </p:nvSpPr>
        <p:spPr>
          <a:xfrm>
            <a:off x="657225" y="1032570"/>
            <a:ext cx="7829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SOC Tutor transforma una IA estocástica en un entorno de aprendizaje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determinista y auditable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2"/>
          <p:cNvSpPr/>
          <p:nvPr/>
        </p:nvSpPr>
        <p:spPr>
          <a:xfrm>
            <a:off x="657225" y="2156520"/>
            <a:ext cx="7986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Implementa estándares empresariales (MCP, Observabilidad, Caché Semántico).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657225" y="3013770"/>
            <a:ext cx="79861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8D8B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Listo para integración con simuladores mayores (The Responder).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74904" y="3785295"/>
            <a:ext cx="839419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dirty="0">
                <a:solidFill>
                  <a:srgbClr val="E5FFE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🚀</a:t>
            </a:r>
            <a:endParaRPr lang="en-US" sz="5400" dirty="0"/>
          </a:p>
        </p:txBody>
      </p:sp>
      <p:sp>
        <p:nvSpPr>
          <p:cNvPr id="11" name="Text 5"/>
          <p:cNvSpPr/>
          <p:nvPr/>
        </p:nvSpPr>
        <p:spPr>
          <a:xfrm>
            <a:off x="374904" y="496639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00FF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¡Gracias!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2026-05-16T02:54:58Z</dcterms:created>
  <dcterms:modified xsi:type="dcterms:W3CDTF">2026-05-16T02:54:58Z</dcterms:modified>
</cp:coreProperties>
</file>